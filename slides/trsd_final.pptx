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35" r:id="rId5"/>
    <p:sldId id="340" r:id="rId6"/>
    <p:sldId id="358" r:id="rId7"/>
    <p:sldId id="353" r:id="rId8"/>
    <p:sldId id="361" r:id="rId9"/>
    <p:sldId id="354" r:id="rId10"/>
    <p:sldId id="364" r:id="rId11"/>
    <p:sldId id="365" r:id="rId12"/>
    <p:sldId id="366" r:id="rId13"/>
    <p:sldId id="367" r:id="rId14"/>
    <p:sldId id="368" r:id="rId15"/>
    <p:sldId id="369" r:id="rId16"/>
    <p:sldId id="347" r:id="rId17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78398" autoAdjust="0"/>
  </p:normalViewPr>
  <p:slideViewPr>
    <p:cSldViewPr snapToGrid="0">
      <p:cViewPr>
        <p:scale>
          <a:sx n="100" d="100"/>
          <a:sy n="100" d="100"/>
        </p:scale>
        <p:origin x="2622" y="-360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608A2FC-94EB-4E78-A22A-4C048CB24776}" type="datetime1">
              <a:rPr lang="pt-BR" smtClean="0"/>
              <a:t>06/06/2026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9E9D563E-BCB2-465B-8A3C-AC86CE64F69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AD503E83-D289-449C-983E-79AA9113407F}" type="datetime1">
              <a:rPr lang="pt-BR" smtClean="0"/>
              <a:pPr/>
              <a:t>06/06/2026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noProof="0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8B990660-4B7D-4C11-96DB-B19FFA8CA9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5897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689252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B3F8B-5087-5BAF-8FE2-C2AC1ECB0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B463AC38-B44A-438A-02EA-732370BBD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632412F8-07DF-A816-A458-24E2B0ED7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73A2617-3896-1240-EECB-86250A53F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678597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0F785-FA2E-39C9-6679-970352C81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08A2D31F-2F8C-C918-E54B-B3BA5699F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89A3F5BF-E2F1-D832-CB53-AD527053F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1D9F118-24B7-5F7F-1614-7C69CA30F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29667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A0706-BEEB-1260-A78F-037E0EAFF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9FB08385-96E7-1DD5-B74D-878B611EA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9BFD8D34-71B0-559A-DDE5-C4639E527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2EE2C0A-6ED0-B6EE-CEFE-8A9BD60AE0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14365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1E6F0-81DA-11DB-0187-6566076DA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19CF3E0B-C622-1BF6-99D5-3A2FBF59D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3B2FDB91-C57F-2252-0F55-EE14D3F03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369E029-2B97-AB42-D6C0-84D3800BF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55192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48E61-BE20-A24E-37D1-DA3F37443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5AA9F399-5DCE-6B55-2174-BE3AF60AE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4D75D00B-DE9F-1296-63A7-4E2F92E85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41E7202-51F4-EF68-6C23-C356BA766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26064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85E38-A2D0-AE87-AA47-FB73F0AB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AD296865-03CB-18A5-56BA-8375FCC69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509FA655-963A-60CD-2DCA-9408102F0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07F18A5-F76A-ACEF-4614-35C6FCC1C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926752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4C95C-7BB6-9833-5F39-BF499C623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004B4DF2-7D63-27F0-0B18-B14A82FC1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24BB05A-45ED-D298-F296-F08147492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CB9C265-BB8C-F82B-9B9D-F652F34745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9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102004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BB83C-00DB-91DC-9270-172A9F957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9C262444-E8BE-887C-55CF-1EA67EFBC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55603600-F6D2-5070-F5A0-4E036AE0E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36FBA0E-1F52-34FF-25E4-96E9A29BE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10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042847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BEC4A-E548-0122-3B3A-BADEF0395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B1AAA1E7-8B9E-4368-3247-27273EA8C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7A03817-C09F-3451-8DD7-97D3A8E84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1FE332C-884D-25BB-225A-31FCB8FEEB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24545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A2E6-D20D-3191-85E1-3990AC341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ACC6021E-F342-090D-0931-4FA3A6B3F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B48C2B68-F067-B318-3D02-A0D1210CD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079A343-AD7B-F415-AC13-8398B0538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57945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84534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rtlCol="0" anchor="b">
            <a:normAutofit/>
          </a:bodyPr>
          <a:lstStyle>
            <a:lvl1pPr algn="l">
              <a:defRPr lang="pt-BR" sz="4000" b="1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 </a:t>
            </a:r>
          </a:p>
          <a:p>
            <a:pPr lvl="3" rtl="0"/>
            <a:r>
              <a:rPr lang="pt-BR"/>
              <a:t>Quarto nível </a:t>
            </a:r>
          </a:p>
          <a:p>
            <a:pPr lvl="4" rtl="0"/>
            <a:r>
              <a:rPr lang="pt-BR"/>
              <a:t>Quinto nível </a:t>
            </a:r>
          </a:p>
          <a:p>
            <a:pPr lvl="0"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en-US"/>
              <a:t>Click icon to add picture</a:t>
            </a:r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 Título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en-US"/>
              <a:t>Click icon to add picture</a:t>
            </a:r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 rtlCol="0">
            <a:normAutofit/>
          </a:bodyPr>
          <a:lstStyle>
            <a:lvl1pPr marL="0" indent="0">
              <a:buNone/>
              <a:defRPr lang="pt-BR" sz="2800"/>
            </a:lvl1pPr>
            <a:lvl2pPr marL="457200" indent="0">
              <a:buNone/>
              <a:defRPr lang="pt-BR" sz="2400"/>
            </a:lvl2pPr>
            <a:lvl3pPr marL="914400" indent="0">
              <a:buNone/>
              <a:defRPr lang="pt-BR" sz="2000"/>
            </a:lvl3pPr>
            <a:lvl4pPr marL="1371600" indent="0">
              <a:buNone/>
              <a:defRPr lang="pt-BR" sz="1800"/>
            </a:lvl4pPr>
            <a:lvl5pPr marL="1828800" indent="0">
              <a:buNone/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675" name="Espaço Reservado para Texto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buNone/>
              <a:defRPr lang="pt-BR" sz="2800"/>
            </a:lvl1pPr>
            <a:lvl2pPr marL="457200" indent="0">
              <a:lnSpc>
                <a:spcPts val="2400"/>
              </a:lnSpc>
              <a:buNone/>
              <a:defRPr lang="pt-BR" sz="2000"/>
            </a:lvl2pPr>
            <a:lvl3pPr marL="914400" indent="0">
              <a:lnSpc>
                <a:spcPts val="2400"/>
              </a:lnSpc>
              <a:buNone/>
              <a:defRPr lang="pt-BR" sz="2000"/>
            </a:lvl3pPr>
            <a:lvl4pPr marL="1371600" indent="0">
              <a:lnSpc>
                <a:spcPts val="2400"/>
              </a:lnSpc>
              <a:buNone/>
              <a:defRPr lang="pt-BR" sz="2000"/>
            </a:lvl4pPr>
            <a:lvl5pPr marL="1828800" indent="0">
              <a:lnSpc>
                <a:spcPts val="2400"/>
              </a:lnSpc>
              <a:buNone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  <a:lvl6pPr marL="1600200">
              <a:defRPr lang="pt-BR"/>
            </a:lvl6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4" rtl="0"/>
            <a:r>
              <a:rPr lang="pt-BR"/>
              <a:t>Quarto nível</a:t>
            </a:r>
          </a:p>
          <a:p>
            <a:pPr lvl="5" rtl="0"/>
            <a:r>
              <a:rPr lang="pt-BR"/>
              <a:t>Quinto nível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pt-BR"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lang="pt-BR"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lang="pt-BR"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lang="pt-BR"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Imagem do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en-US"/>
              <a:t>Click icon to add picture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 rtlCol="0"/>
          <a:lstStyle>
            <a:lvl1pPr>
              <a:spcBef>
                <a:spcPts val="0"/>
              </a:spcBef>
              <a:spcAft>
                <a:spcPts val="1200"/>
              </a:spcAft>
              <a:defRPr lang="pt-BR"/>
            </a:lvl1pPr>
            <a:lvl2pPr>
              <a:spcBef>
                <a:spcPts val="0"/>
              </a:spcBef>
              <a:spcAft>
                <a:spcPts val="600"/>
              </a:spcAft>
              <a:defRPr lang="pt-BR"/>
            </a:lvl2pPr>
            <a:lvl3pPr>
              <a:spcBef>
                <a:spcPts val="0"/>
              </a:spcBef>
              <a:spcAft>
                <a:spcPts val="600"/>
              </a:spcAft>
              <a:defRPr lang="pt-BR"/>
            </a:lvl3pPr>
            <a:lvl4pPr>
              <a:spcBef>
                <a:spcPts val="0"/>
              </a:spcBef>
              <a:spcAft>
                <a:spcPts val="600"/>
              </a:spcAft>
              <a:defRPr lang="pt-BR" sz="2000"/>
            </a:lvl4pPr>
            <a:lvl5pPr>
              <a:spcBef>
                <a:spcPts val="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pt-BR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 </a:t>
            </a:r>
          </a:p>
          <a:p>
            <a:pPr lvl="3" rtl="0"/>
            <a:r>
              <a:rPr lang="pt-BR"/>
              <a:t>Quarto nível </a:t>
            </a:r>
          </a:p>
          <a:p>
            <a:pPr lvl="4" rtl="0"/>
            <a:r>
              <a:rPr lang="pt-BR"/>
              <a:t>Quinto nível </a:t>
            </a:r>
          </a:p>
          <a:p>
            <a:pPr lvl="0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815" name="Grupo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000" b="1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flavio.oliveira@dcomp.ufs.b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erik_richard@outlook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6208" y="1136640"/>
            <a:ext cx="5221224" cy="3056343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r>
              <a:rPr lang="pt-BR" sz="3200" dirty="0"/>
              <a:t>Procc0113</a:t>
            </a:r>
            <a:r>
              <a:rPr lang="pt-BR" sz="2400" dirty="0"/>
              <a:t> </a:t>
            </a:r>
            <a:br>
              <a:rPr lang="pt-BR" sz="2400" dirty="0"/>
            </a:br>
            <a:br>
              <a:rPr lang="pt-BR" sz="2400" dirty="0"/>
            </a:br>
            <a:r>
              <a:rPr lang="pt-BR" sz="2400" b="0" dirty="0"/>
              <a:t>Tópicos avançados em redes de computadores e sistemas distribuídos – T01 – 2026.1</a:t>
            </a:r>
          </a:p>
        </p:txBody>
      </p:sp>
      <p:pic>
        <p:nvPicPr>
          <p:cNvPr id="1026" name="Picture 2" descr="Universidade Federal de Sergipe – Wikipédia, a enciclopédia livre">
            <a:extLst>
              <a:ext uri="{FF2B5EF4-FFF2-40B4-BE49-F238E27FC236}">
                <a16:creationId xmlns:a16="http://schemas.microsoft.com/office/drawing/2014/main" id="{DBD2C91E-5210-CAD2-92C8-D5B13B6E7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208" y="795731"/>
            <a:ext cx="828119" cy="681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rtal UFS - Logomarcas">
            <a:extLst>
              <a:ext uri="{FF2B5EF4-FFF2-40B4-BE49-F238E27FC236}">
                <a16:creationId xmlns:a16="http://schemas.microsoft.com/office/drawing/2014/main" id="{9DBA8E48-B2E3-12C2-14D6-8DF2C1EFB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186" y="610585"/>
            <a:ext cx="3607231" cy="105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85F09D-3A16-5174-63B4-9FEA46052D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6876" y="795731"/>
            <a:ext cx="828120" cy="839261"/>
          </a:xfrm>
          <a:prstGeom prst="rect">
            <a:avLst/>
          </a:prstGeom>
        </p:spPr>
      </p:pic>
      <p:sp>
        <p:nvSpPr>
          <p:cNvPr id="5" name="Título 2">
            <a:extLst>
              <a:ext uri="{FF2B5EF4-FFF2-40B4-BE49-F238E27FC236}">
                <a16:creationId xmlns:a16="http://schemas.microsoft.com/office/drawing/2014/main" id="{9A6E669B-9FD2-13AB-1265-7E05D18ECB09}"/>
              </a:ext>
            </a:extLst>
          </p:cNvPr>
          <p:cNvSpPr txBox="1">
            <a:spLocks/>
          </p:cNvSpPr>
          <p:nvPr/>
        </p:nvSpPr>
        <p:spPr>
          <a:xfrm>
            <a:off x="6556208" y="4719038"/>
            <a:ext cx="5221224" cy="16095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/>
              <a:t>Erik richard barbosa dos santos</a:t>
            </a:r>
          </a:p>
          <a:p>
            <a:pPr>
              <a:lnSpc>
                <a:spcPct val="100000"/>
              </a:lnSpc>
            </a:pPr>
            <a:endParaRPr lang="pt-BR" sz="1800" dirty="0"/>
          </a:p>
          <a:p>
            <a:pPr>
              <a:lnSpc>
                <a:spcPct val="100000"/>
              </a:lnSpc>
            </a:pPr>
            <a:r>
              <a:rPr lang="pt-BR" sz="1800" dirty="0"/>
              <a:t>Flavio emanuel de oliveira santos</a:t>
            </a:r>
          </a:p>
          <a:p>
            <a:pPr>
              <a:lnSpc>
                <a:spcPct val="100000"/>
              </a:lnSpc>
            </a:pPr>
            <a:endParaRPr lang="pt-BR" sz="1800" dirty="0"/>
          </a:p>
          <a:p>
            <a:pPr>
              <a:lnSpc>
                <a:spcPct val="100000"/>
              </a:lnSpc>
            </a:pPr>
            <a:r>
              <a:rPr lang="pt-BR" sz="1800" dirty="0"/>
              <a:t>Marcos andré de aragão soares</a:t>
            </a: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41960"/>
            <a:ext cx="4615544" cy="3316893"/>
          </a:xfrm>
        </p:spPr>
        <p:txBody>
          <a:bodyPr rtlCol="0">
            <a:normAutofit fontScale="90000"/>
          </a:bodyPr>
          <a:lstStyle>
            <a:defPPr>
              <a:defRPr lang="pt-BR"/>
            </a:defPPr>
          </a:lstStyle>
          <a:p>
            <a:pPr algn="ctr">
              <a:lnSpc>
                <a:spcPct val="100000"/>
              </a:lnSpc>
            </a:pPr>
            <a:r>
              <a:rPr lang="pt-BR" dirty="0"/>
              <a:t>Sistema Distribuído </a:t>
            </a:r>
            <a:r>
              <a:rPr lang="pt-BR" dirty="0" err="1"/>
              <a:t>Autoadaptável</a:t>
            </a:r>
            <a:r>
              <a:rPr lang="pt-BR" dirty="0"/>
              <a:t> para Geração de PDF/A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82CBB1C-4336-357C-6A9B-E5ADB5893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4601850" cy="2197590"/>
          </a:xfrm>
        </p:spPr>
        <p:txBody>
          <a:bodyPr/>
          <a:lstStyle/>
          <a:p>
            <a:r>
              <a:rPr lang="pt-BR" dirty="0"/>
              <a:t>Software monitora múltiplos provedores e altera dinamicamente seu comportamento para garantir a disponibilidade do serviço.</a:t>
            </a:r>
          </a:p>
        </p:txBody>
      </p:sp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7655D-0EB8-EEA6-EA1D-38320439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135FB-18F7-CFF0-E8EA-2F8A7D077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Visão Geral da Arquitetura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D85093F-40B4-2527-03A1-842D80C96F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1488180"/>
            <a:ext cx="9212837" cy="4366356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1800" b="1" dirty="0"/>
              <a:t>O que é o sistema?</a:t>
            </a:r>
            <a:r>
              <a:rPr lang="pt-BR" sz="1800" dirty="0"/>
              <a:t> Um gerador de PDF/A que delega o trabalho para serviços externos (</a:t>
            </a:r>
            <a:r>
              <a:rPr lang="pt-BR" sz="1800" dirty="0" err="1"/>
              <a:t>Providers</a:t>
            </a:r>
            <a:r>
              <a:rPr lang="pt-BR" sz="1800" dirty="0"/>
              <a:t>), mas que possui uma inteligência para sobreviver a falhas.</a:t>
            </a:r>
          </a:p>
          <a:p>
            <a:pPr marL="0" indent="0">
              <a:buNone/>
            </a:pPr>
            <a:r>
              <a:rPr lang="pt-BR" sz="1800" b="1" dirty="0"/>
              <a:t>A Divisão:</a:t>
            </a:r>
            <a:endParaRPr lang="pt-BR" sz="1800" dirty="0"/>
          </a:p>
          <a:p>
            <a:pPr lvl="1"/>
            <a:r>
              <a:rPr lang="pt-BR" sz="1800" b="1" dirty="0"/>
              <a:t>Sistema Gerenciador (MAPE-K):</a:t>
            </a:r>
            <a:r>
              <a:rPr lang="pt-BR" sz="1800" dirty="0"/>
              <a:t> Os microsserviços </a:t>
            </a:r>
            <a:r>
              <a:rPr lang="pt-BR" b="1" dirty="0"/>
              <a:t>monitor</a:t>
            </a:r>
            <a:r>
              <a:rPr lang="pt-BR" sz="1800" dirty="0"/>
              <a:t>, </a:t>
            </a:r>
            <a:r>
              <a:rPr lang="pt-BR" b="1" dirty="0" err="1"/>
              <a:t>analyze</a:t>
            </a:r>
            <a:r>
              <a:rPr lang="pt-BR" sz="1800" dirty="0"/>
              <a:t>, </a:t>
            </a:r>
            <a:r>
              <a:rPr lang="pt-BR" b="1" dirty="0" err="1"/>
              <a:t>plan</a:t>
            </a:r>
            <a:r>
              <a:rPr lang="pt-BR" sz="1800" dirty="0"/>
              <a:t>, </a:t>
            </a:r>
            <a:r>
              <a:rPr lang="pt-BR" b="1" dirty="0" err="1"/>
              <a:t>knowledge</a:t>
            </a:r>
            <a:r>
              <a:rPr lang="pt-BR" sz="1800" dirty="0"/>
              <a:t> e </a:t>
            </a:r>
            <a:r>
              <a:rPr lang="pt-BR" b="1" dirty="0"/>
              <a:t>execute</a:t>
            </a:r>
            <a:r>
              <a:rPr lang="pt-BR" sz="1800" dirty="0"/>
              <a:t> que tomam as decisões.</a:t>
            </a:r>
          </a:p>
          <a:p>
            <a:pPr lvl="1"/>
            <a:r>
              <a:rPr lang="pt-BR" sz="1800" b="1" dirty="0"/>
              <a:t>Sistema Gerenciado:</a:t>
            </a:r>
            <a:r>
              <a:rPr lang="pt-BR" sz="1800" dirty="0"/>
              <a:t> O serviço </a:t>
            </a:r>
            <a:r>
              <a:rPr lang="pt-BR" b="1" dirty="0"/>
              <a:t>core</a:t>
            </a:r>
            <a:r>
              <a:rPr lang="pt-BR" sz="1800" dirty="0"/>
              <a:t> (que recebe a requisição do usuário) e os </a:t>
            </a:r>
            <a:r>
              <a:rPr lang="pt-BR" b="1" dirty="0" err="1"/>
              <a:t>providers</a:t>
            </a:r>
            <a:r>
              <a:rPr lang="pt-BR" sz="1800" dirty="0"/>
              <a:t> (que geram o documento).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062A4172-C623-E4B5-5681-BEAF8E6A5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729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ADDB4-EC18-5C69-077E-A06C4312F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480D3-B98D-8445-9654-4168D24F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41960"/>
            <a:ext cx="4615544" cy="3316893"/>
          </a:xfrm>
        </p:spPr>
        <p:txBody>
          <a:bodyPr rtlCol="0"/>
          <a:lstStyle>
            <a:defPPr>
              <a:defRPr lang="pt-BR"/>
            </a:defPPr>
          </a:lstStyle>
          <a:p>
            <a:pPr>
              <a:lnSpc>
                <a:spcPct val="100000"/>
              </a:lnSpc>
            </a:pPr>
            <a:r>
              <a:rPr lang="pt-BR" dirty="0"/>
              <a:t>Sistema Gerenciador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8D8632C-6CC6-88FE-02B5-FCE2391859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b="1" dirty="0"/>
              <a:t>Monitor</a:t>
            </a:r>
            <a:r>
              <a:rPr lang="pt-BR" sz="2400" dirty="0"/>
              <a:t>, </a:t>
            </a:r>
            <a:r>
              <a:rPr lang="pt-BR" sz="2400" b="1" dirty="0" err="1"/>
              <a:t>A</a:t>
            </a:r>
            <a:r>
              <a:rPr lang="pt-BR" b="1" dirty="0" err="1"/>
              <a:t>nalyze</a:t>
            </a:r>
            <a:r>
              <a:rPr lang="pt-BR" sz="2400" dirty="0"/>
              <a:t>, </a:t>
            </a:r>
            <a:r>
              <a:rPr lang="pt-BR" sz="2400" b="1" dirty="0" err="1"/>
              <a:t>P</a:t>
            </a:r>
            <a:r>
              <a:rPr lang="pt-BR" b="1" dirty="0" err="1"/>
              <a:t>lan</a:t>
            </a:r>
            <a:r>
              <a:rPr lang="pt-BR" sz="2400" dirty="0"/>
              <a:t>, </a:t>
            </a:r>
            <a:r>
              <a:rPr lang="pt-BR" sz="2400" b="1" dirty="0" err="1"/>
              <a:t>K</a:t>
            </a:r>
            <a:r>
              <a:rPr lang="pt-BR" b="1" dirty="0" err="1"/>
              <a:t>nowledge</a:t>
            </a:r>
            <a:r>
              <a:rPr lang="pt-BR" sz="2400" dirty="0"/>
              <a:t> e </a:t>
            </a:r>
            <a:r>
              <a:rPr lang="pt-BR" sz="2400" b="1" dirty="0"/>
              <a:t>E</a:t>
            </a:r>
            <a:r>
              <a:rPr lang="pt-BR" b="1" dirty="0"/>
              <a:t>xecute</a:t>
            </a:r>
          </a:p>
        </p:txBody>
      </p:sp>
    </p:spTree>
    <p:extLst>
      <p:ext uri="{BB962C8B-B14F-4D97-AF65-F5344CB8AC3E}">
        <p14:creationId xmlns:p14="http://schemas.microsoft.com/office/powerpoint/2010/main" val="2074280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E8369-C1CF-AFE9-F110-DA6831F93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EB91F-B8C0-E046-642B-F89512A52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M - Monitor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9C97113B-68EA-CFAE-637B-3E4DF1AA86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9942" y="1965762"/>
            <a:ext cx="8595750" cy="4280859"/>
          </a:xfrm>
        </p:spPr>
        <p:txBody>
          <a:bodyPr rtlCol="0">
            <a:normAutofit fontScale="62500" lnSpcReduction="20000"/>
          </a:bodyPr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sz="3100" dirty="0"/>
              <a:t>Verifica continuamente quem está online e apto e com PDF/A habilitado.</a:t>
            </a:r>
          </a:p>
          <a:p>
            <a:pPr marL="0" indent="0">
              <a:buNone/>
            </a:pPr>
            <a:r>
              <a:rPr lang="pt-BR" sz="3100" b="1" dirty="0"/>
              <a:t>Como funciona (Passo a Passo):</a:t>
            </a:r>
            <a:endParaRPr lang="pt-BR" sz="3100" dirty="0"/>
          </a:p>
          <a:p>
            <a:pPr marL="457200" indent="-457200">
              <a:buFont typeface="+mj-lt"/>
              <a:buAutoNum type="arabicPeriod"/>
            </a:pPr>
            <a:r>
              <a:rPr lang="pt-BR" sz="3100" dirty="0"/>
              <a:t>O sistema possui um laço infinito (for {}) que roda a cada 1 segundo.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100" dirty="0"/>
              <a:t>Ele possui uma lista de alvos: </a:t>
            </a:r>
            <a:r>
              <a:rPr lang="pt-BR" sz="3100" dirty="0" err="1"/>
              <a:t>knownProviders</a:t>
            </a:r>
            <a:r>
              <a:rPr lang="pt-BR" sz="3100" dirty="0"/>
              <a:t> = []</a:t>
            </a:r>
            <a:r>
              <a:rPr lang="pt-BR" sz="3100" dirty="0" err="1"/>
              <a:t>string</a:t>
            </a:r>
            <a:r>
              <a:rPr lang="pt-BR" sz="3100" dirty="0"/>
              <a:t>{"http://provider1:8081", "http://provider2:8081"}.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100" dirty="0"/>
              <a:t>A função </a:t>
            </a:r>
            <a:r>
              <a:rPr lang="pt-BR" sz="3100" dirty="0" err="1"/>
              <a:t>checkProvider</a:t>
            </a:r>
            <a:r>
              <a:rPr lang="pt-BR" sz="3100" dirty="0"/>
              <a:t>(</a:t>
            </a:r>
            <a:r>
              <a:rPr lang="pt-BR" sz="3100" dirty="0" err="1"/>
              <a:t>url</a:t>
            </a:r>
            <a:r>
              <a:rPr lang="pt-BR" sz="3100" dirty="0"/>
              <a:t>) faz um GET no </a:t>
            </a:r>
            <a:r>
              <a:rPr lang="pt-BR" sz="3100" dirty="0" err="1"/>
              <a:t>endpoint</a:t>
            </a:r>
            <a:r>
              <a:rPr lang="pt-BR" sz="3100" dirty="0"/>
              <a:t> /</a:t>
            </a:r>
            <a:r>
              <a:rPr lang="pt-BR" sz="3100" dirty="0" err="1"/>
              <a:t>health</a:t>
            </a:r>
            <a:r>
              <a:rPr lang="pt-BR" sz="3100" dirty="0"/>
              <a:t> de cada um.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100" dirty="0"/>
              <a:t>Ele só aprova o provedor se o JSON retornar status["</a:t>
            </a:r>
            <a:r>
              <a:rPr lang="pt-BR" sz="3100" dirty="0" err="1"/>
              <a:t>healthy</a:t>
            </a:r>
            <a:r>
              <a:rPr lang="pt-BR" sz="3100" dirty="0"/>
              <a:t>"] &amp;&amp; status["</a:t>
            </a:r>
            <a:r>
              <a:rPr lang="pt-BR" sz="3100" dirty="0" err="1"/>
              <a:t>pdfa_enabled</a:t>
            </a:r>
            <a:r>
              <a:rPr lang="pt-BR" sz="3100" dirty="0"/>
              <a:t>"].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100" dirty="0"/>
              <a:t>A lista final de provedores ativos (</a:t>
            </a:r>
            <a:r>
              <a:rPr lang="pt-BR" sz="3100" dirty="0" err="1"/>
              <a:t>activeProviders</a:t>
            </a:r>
            <a:r>
              <a:rPr lang="pt-BR" sz="3100" dirty="0"/>
              <a:t>) é enviada via POST para o serviço </a:t>
            </a:r>
            <a:r>
              <a:rPr lang="pt-BR" sz="3100" i="1" dirty="0" err="1"/>
              <a:t>Analyze</a:t>
            </a:r>
            <a:r>
              <a:rPr lang="pt-BR" sz="3100" dirty="0"/>
              <a:t>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EFAF1EF1-A4F5-69D6-ED67-5229F3DBC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7590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1DDD5-7E73-08AE-E41F-56CAEDCF4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E0CC1-FD8B-8752-9A05-B75ED1006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A - </a:t>
            </a:r>
            <a:r>
              <a:rPr lang="pt-BR" dirty="0" err="1"/>
              <a:t>Analyze</a:t>
            </a:r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E36C4A13-6B5B-394F-970F-B88FC03F5C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9942" y="1965762"/>
            <a:ext cx="8595750" cy="4280859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dirty="0"/>
              <a:t>Interpretar os dados brutos recebidos do Monitor e determinar se o sistema está em crise.</a:t>
            </a:r>
          </a:p>
          <a:p>
            <a:pPr marL="0" indent="0">
              <a:buNone/>
            </a:pPr>
            <a:r>
              <a:rPr lang="pt-BR" b="1" dirty="0"/>
              <a:t>Como funciona (Passo a Passo):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Recebe o </a:t>
            </a:r>
            <a:r>
              <a:rPr lang="pt-BR" dirty="0" err="1"/>
              <a:t>payload</a:t>
            </a:r>
            <a:r>
              <a:rPr lang="pt-BR" dirty="0"/>
              <a:t> com a lista </a:t>
            </a:r>
            <a:r>
              <a:rPr lang="pt-BR" dirty="0" err="1"/>
              <a:t>ActiveProviders</a:t>
            </a:r>
            <a:r>
              <a:rPr lang="pt-B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A regra de negócio central: A contingência (</a:t>
            </a:r>
            <a:r>
              <a:rPr lang="pt-BR" dirty="0" err="1"/>
              <a:t>Fallback</a:t>
            </a:r>
            <a:r>
              <a:rPr lang="pt-BR" dirty="0"/>
              <a:t>) só deve ser ativada se absolutamente nenhum provedor estiver funcionando.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O código calcula isso de forma simples e direta: </a:t>
            </a:r>
            <a:r>
              <a:rPr lang="pt-BR" dirty="0" err="1"/>
              <a:t>fallback</a:t>
            </a:r>
            <a:r>
              <a:rPr lang="pt-BR" dirty="0"/>
              <a:t> := </a:t>
            </a:r>
            <a:r>
              <a:rPr lang="pt-BR" dirty="0" err="1"/>
              <a:t>len</a:t>
            </a:r>
            <a:r>
              <a:rPr lang="pt-BR" dirty="0"/>
              <a:t>(</a:t>
            </a:r>
            <a:r>
              <a:rPr lang="pt-BR" dirty="0" err="1"/>
              <a:t>in.ActiveProviders</a:t>
            </a:r>
            <a:r>
              <a:rPr lang="pt-BR" dirty="0"/>
              <a:t>) == 0.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Ele empacota o status de </a:t>
            </a:r>
            <a:r>
              <a:rPr lang="pt-BR" dirty="0" err="1"/>
              <a:t>fallback</a:t>
            </a:r>
            <a:r>
              <a:rPr lang="pt-BR" dirty="0"/>
              <a:t> (booleano) junto com a lista e repassa para o </a:t>
            </a:r>
            <a:r>
              <a:rPr lang="pt-BR" i="1" dirty="0" err="1"/>
              <a:t>Plan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ED493E0B-2F07-0EE6-5C14-E9B6DB100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2232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D29D5-6D66-D496-6363-1F48E14DA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30111-7F02-A515-079F-BA74AB2D7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P - </a:t>
            </a:r>
            <a:r>
              <a:rPr lang="pt-BR" dirty="0" err="1"/>
              <a:t>Plan</a:t>
            </a:r>
            <a:r>
              <a:rPr lang="pt-BR" dirty="0"/>
              <a:t> &amp; K - </a:t>
            </a:r>
            <a:r>
              <a:rPr lang="pt-BR" dirty="0" err="1"/>
              <a:t>Knowledge</a:t>
            </a:r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C4A2AA33-FCCE-C5C4-9CBB-3190AA265C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9942" y="1965762"/>
            <a:ext cx="8595750" cy="4280859"/>
          </a:xfrm>
        </p:spPr>
        <p:txBody>
          <a:bodyPr rtlCol="0">
            <a:normAutofit fontScale="92500"/>
          </a:bodyPr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dirty="0"/>
              <a:t>O </a:t>
            </a:r>
            <a:r>
              <a:rPr lang="pt-BR" b="1" i="1" dirty="0" err="1"/>
              <a:t>Plan</a:t>
            </a:r>
            <a:r>
              <a:rPr lang="pt-BR" dirty="0"/>
              <a:t> estrutura a atualização da política, e o </a:t>
            </a:r>
            <a:r>
              <a:rPr lang="pt-BR" b="1" i="1" dirty="0" err="1"/>
              <a:t>Knowledge</a:t>
            </a:r>
            <a:r>
              <a:rPr lang="pt-BR" dirty="0"/>
              <a:t> atua como a memória central, guardando o estado global para que múltiplos componentes possam consultá-lo sem conflitos.</a:t>
            </a:r>
          </a:p>
          <a:p>
            <a:pPr marL="0" indent="0">
              <a:buNone/>
            </a:pPr>
            <a:r>
              <a:rPr lang="pt-BR" b="1" dirty="0"/>
              <a:t>Como funciona (Passo a Passo):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O </a:t>
            </a:r>
            <a:r>
              <a:rPr lang="pt-BR" b="1" i="1" dirty="0" err="1"/>
              <a:t>Plan</a:t>
            </a:r>
            <a:r>
              <a:rPr lang="pt-BR" dirty="0"/>
              <a:t> recebe a decisão do </a:t>
            </a:r>
            <a:r>
              <a:rPr lang="pt-BR" b="1" i="1" dirty="0" err="1"/>
              <a:t>Analyze</a:t>
            </a:r>
            <a:r>
              <a:rPr lang="pt-BR" dirty="0"/>
              <a:t> e faz um POST direto para a rota /</a:t>
            </a:r>
            <a:r>
              <a:rPr lang="pt-BR" dirty="0" err="1"/>
              <a:t>state</a:t>
            </a:r>
            <a:r>
              <a:rPr lang="pt-BR" dirty="0"/>
              <a:t> do </a:t>
            </a:r>
            <a:r>
              <a:rPr lang="pt-BR" b="1" i="1" dirty="0" err="1"/>
              <a:t>Knowledge</a:t>
            </a:r>
            <a:r>
              <a:rPr lang="pt-B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O </a:t>
            </a:r>
            <a:r>
              <a:rPr lang="pt-BR" b="1" i="1" dirty="0" err="1"/>
              <a:t>Knowledge</a:t>
            </a:r>
            <a:r>
              <a:rPr lang="pt-BR" dirty="0"/>
              <a:t> possui uma estrutura global </a:t>
            </a:r>
            <a:r>
              <a:rPr lang="pt-BR" dirty="0" err="1"/>
              <a:t>State</a:t>
            </a:r>
            <a:r>
              <a:rPr lang="pt-BR" dirty="0"/>
              <a:t>{</a:t>
            </a:r>
            <a:r>
              <a:rPr lang="pt-BR" dirty="0" err="1"/>
              <a:t>Fallback</a:t>
            </a:r>
            <a:r>
              <a:rPr lang="pt-BR" dirty="0"/>
              <a:t>, </a:t>
            </a:r>
            <a:r>
              <a:rPr lang="pt-BR" dirty="0" err="1"/>
              <a:t>ActiveProviders</a:t>
            </a:r>
            <a:r>
              <a:rPr lang="pt-BR" dirty="0"/>
              <a:t>}.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u="sng" dirty="0"/>
              <a:t>Segurança</a:t>
            </a:r>
            <a:r>
              <a:rPr lang="pt-BR" b="1" dirty="0"/>
              <a:t>:</a:t>
            </a:r>
            <a:r>
              <a:rPr lang="pt-BR" dirty="0"/>
              <a:t> O código do </a:t>
            </a:r>
            <a:r>
              <a:rPr lang="pt-BR" b="1" i="1" dirty="0" err="1"/>
              <a:t>Knowledge</a:t>
            </a:r>
            <a:r>
              <a:rPr lang="pt-BR" dirty="0"/>
              <a:t> utiliza </a:t>
            </a:r>
            <a:r>
              <a:rPr lang="pt-BR" dirty="0" err="1"/>
              <a:t>sync.RWMutex</a:t>
            </a:r>
            <a:r>
              <a:rPr lang="pt-BR" dirty="0"/>
              <a:t> (</a:t>
            </a:r>
            <a:r>
              <a:rPr lang="pt-BR" dirty="0" err="1"/>
              <a:t>mu.Lock</a:t>
            </a:r>
            <a:r>
              <a:rPr lang="pt-BR" dirty="0"/>
              <a:t>() e </a:t>
            </a:r>
            <a:r>
              <a:rPr lang="pt-BR" dirty="0" err="1"/>
              <a:t>mu.Unlock</a:t>
            </a:r>
            <a:r>
              <a:rPr lang="pt-BR" dirty="0"/>
              <a:t>()) no método </a:t>
            </a:r>
            <a:r>
              <a:rPr lang="pt-BR" dirty="0" err="1"/>
              <a:t>setState</a:t>
            </a:r>
            <a:r>
              <a:rPr lang="pt-BR" dirty="0"/>
              <a:t>. Isso garante consistência, impedindo que o estado seja lido pela metade enquanto está sendo atualizado.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C1D8F2AB-D38F-5DC2-62F5-08FFD1418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0147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A207E-7C84-7E9A-FF02-7C3149D45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E2BAF9-3D9E-A759-A2C6-EE5FF17A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E - Execute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8D03787-4EDE-AEAA-E0AA-0A5D12DF75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9942" y="1965762"/>
            <a:ext cx="8595750" cy="4280859"/>
          </a:xfrm>
        </p:spPr>
        <p:txBody>
          <a:bodyPr rtlCol="0">
            <a:normAutofit fontScale="32500" lnSpcReduction="20000"/>
          </a:bodyPr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sz="4900" dirty="0"/>
              <a:t>Traduzir a estratégia decidida pelo </a:t>
            </a:r>
            <a:r>
              <a:rPr lang="pt-BR" sz="4900" b="1" dirty="0"/>
              <a:t>MAPE-K</a:t>
            </a:r>
            <a:r>
              <a:rPr lang="pt-BR" sz="4900" dirty="0"/>
              <a:t> em ações reais dentro do sistema principal.</a:t>
            </a:r>
          </a:p>
          <a:p>
            <a:pPr marL="0" indent="0">
              <a:buNone/>
            </a:pPr>
            <a:r>
              <a:rPr lang="pt-BR" sz="4900" b="1" dirty="0"/>
              <a:t>Como funciona (Passo a Passo):</a:t>
            </a:r>
            <a:endParaRPr lang="pt-BR" sz="4900" dirty="0"/>
          </a:p>
          <a:p>
            <a:pPr marL="514350" indent="-514350">
              <a:buFont typeface="+mj-lt"/>
              <a:buAutoNum type="arabicPeriod"/>
            </a:pPr>
            <a:r>
              <a:rPr lang="pt-BR" sz="4900" dirty="0"/>
              <a:t>Utiliza um </a:t>
            </a:r>
            <a:r>
              <a:rPr lang="pt-BR" sz="4900" dirty="0" err="1"/>
              <a:t>time.NewTicker</a:t>
            </a:r>
            <a:r>
              <a:rPr lang="pt-BR" sz="4900" dirty="0"/>
              <a:t>(2 * </a:t>
            </a:r>
            <a:r>
              <a:rPr lang="pt-BR" sz="4900" dirty="0" err="1"/>
              <a:t>time.Second</a:t>
            </a:r>
            <a:r>
              <a:rPr lang="pt-BR" sz="4900" dirty="0"/>
              <a:t>) para consultar o </a:t>
            </a:r>
            <a:r>
              <a:rPr lang="pt-BR" sz="4900" b="1" i="1" dirty="0" err="1"/>
              <a:t>Knowledge</a:t>
            </a:r>
            <a:r>
              <a:rPr lang="pt-BR" sz="4900" dirty="0"/>
              <a:t> a cada 2 segundos via GET em /</a:t>
            </a:r>
            <a:r>
              <a:rPr lang="pt-BR" sz="4900" dirty="0" err="1"/>
              <a:t>state</a:t>
            </a:r>
            <a:r>
              <a:rPr lang="pt-BR" sz="49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4900" dirty="0"/>
              <a:t>A função </a:t>
            </a:r>
            <a:r>
              <a:rPr lang="pt-BR" sz="4900" dirty="0" err="1"/>
              <a:t>setModeOnCore</a:t>
            </a:r>
            <a:r>
              <a:rPr lang="pt-BR" sz="4900" dirty="0"/>
              <a:t> constrói o </a:t>
            </a:r>
            <a:r>
              <a:rPr lang="pt-BR" sz="4900" dirty="0" err="1"/>
              <a:t>payload</a:t>
            </a:r>
            <a:r>
              <a:rPr lang="pt-BR" sz="4900" dirty="0"/>
              <a:t> de comando: se </a:t>
            </a:r>
            <a:r>
              <a:rPr lang="pt-BR" sz="4900" dirty="0" err="1"/>
              <a:t>Fallback</a:t>
            </a:r>
            <a:r>
              <a:rPr lang="pt-BR" sz="4900" dirty="0"/>
              <a:t> for verdadeiro, o modo é "local"; caso contrário, é "</a:t>
            </a:r>
            <a:r>
              <a:rPr lang="pt-BR" sz="4900" dirty="0" err="1"/>
              <a:t>provider</a:t>
            </a:r>
            <a:r>
              <a:rPr lang="pt-BR" sz="4900" dirty="0"/>
              <a:t>".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4900" dirty="0"/>
              <a:t>Ele faz uma requisição POST na rota /</a:t>
            </a:r>
            <a:r>
              <a:rPr lang="pt-BR" sz="4900" dirty="0" err="1"/>
              <a:t>mode</a:t>
            </a:r>
            <a:r>
              <a:rPr lang="pt-BR" sz="4900" dirty="0"/>
              <a:t> do Core, enviando um cabeçalho de segurança X-</a:t>
            </a:r>
            <a:r>
              <a:rPr lang="pt-BR" sz="4900" dirty="0" err="1"/>
              <a:t>Caller</a:t>
            </a:r>
            <a:r>
              <a:rPr lang="pt-BR" sz="4900" dirty="0"/>
              <a:t>: execute para evitar alterações não autorizadas.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4900" dirty="0"/>
              <a:t>Ele entrega a instrução final: </a:t>
            </a:r>
            <a:r>
              <a:rPr lang="pt-BR" sz="4900" i="1" dirty="0"/>
              <a:t>"Use este modo e distribua a carga entre esta lista de provedores"</a:t>
            </a:r>
            <a:r>
              <a:rPr lang="pt-BR" sz="4900" dirty="0"/>
              <a:t>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C6A3D56C-4985-8F1C-09B6-63CB942D7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7411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BC6DC-8FC0-D9DB-6D80-220B55C22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301FD-EC5E-DC66-20DF-F51243CE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41960"/>
            <a:ext cx="4615544" cy="3316893"/>
          </a:xfrm>
        </p:spPr>
        <p:txBody>
          <a:bodyPr rtlCol="0"/>
          <a:lstStyle>
            <a:defPPr>
              <a:defRPr lang="pt-BR"/>
            </a:defPPr>
          </a:lstStyle>
          <a:p>
            <a:pPr>
              <a:lnSpc>
                <a:spcPct val="100000"/>
              </a:lnSpc>
            </a:pPr>
            <a:r>
              <a:rPr lang="pt-BR" dirty="0"/>
              <a:t>Sistema Gerenciado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7CE12E9-6ED0-37DB-39BE-4CD952AA1C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Core e </a:t>
            </a:r>
            <a:r>
              <a:rPr lang="pt-BR" dirty="0" err="1"/>
              <a:t>Providers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652833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A2B8D-2473-6651-CD37-00C2EE428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4D55F-D91E-E213-8258-18CF53F1B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Core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A82627E6-F60C-FD8C-5C3D-C8452B3229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9942" y="1575412"/>
            <a:ext cx="8595750" cy="4671209"/>
          </a:xfrm>
        </p:spPr>
        <p:txBody>
          <a:bodyPr rtlCol="0">
            <a:normAutofit fontScale="25000" lnSpcReduction="20000"/>
          </a:bodyPr>
          <a:lstStyle>
            <a:defPPr>
              <a:defRPr lang="pt-BR"/>
            </a:defPPr>
          </a:lstStyle>
          <a:p>
            <a:pPr marL="0" indent="0" algn="just">
              <a:buNone/>
            </a:pPr>
            <a:r>
              <a:rPr lang="pt-BR" sz="5600" dirty="0"/>
              <a:t>É o ponto de contato com o cliente final e o executor prático da adaptação. Possui algoritmos próprios de resiliência.</a:t>
            </a:r>
          </a:p>
          <a:p>
            <a:pPr marL="0" indent="0" algn="just">
              <a:buNone/>
            </a:pPr>
            <a:r>
              <a:rPr lang="pt-BR" sz="5600" b="1" dirty="0"/>
              <a:t>Como funciona (Passo a Passo):</a:t>
            </a:r>
            <a:endParaRPr lang="pt-BR" sz="5600" dirty="0"/>
          </a:p>
          <a:p>
            <a:pPr marL="514350" indent="-514350" algn="just">
              <a:buFont typeface="+mj-lt"/>
              <a:buAutoNum type="arabicPeriod"/>
            </a:pPr>
            <a:r>
              <a:rPr lang="pt-BR" sz="5600" dirty="0"/>
              <a:t>Verifica se o serviço </a:t>
            </a:r>
            <a:r>
              <a:rPr lang="pt-BR" sz="5600" b="1" dirty="0"/>
              <a:t>Execute</a:t>
            </a:r>
            <a:r>
              <a:rPr lang="pt-BR" sz="5600" dirty="0"/>
              <a:t> está online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5600" dirty="0"/>
              <a:t>Usando </a:t>
            </a:r>
            <a:r>
              <a:rPr lang="pt-BR" sz="5600" dirty="0" err="1"/>
              <a:t>isExecuteHealthy</a:t>
            </a:r>
            <a:r>
              <a:rPr lang="pt-BR" sz="5600" dirty="0"/>
              <a:t>(). Se o </a:t>
            </a:r>
            <a:r>
              <a:rPr lang="pt-BR" sz="5600" b="1" dirty="0"/>
              <a:t>gerenciador</a:t>
            </a:r>
            <a:r>
              <a:rPr lang="pt-BR" sz="5600" dirty="0"/>
              <a:t> cair, o </a:t>
            </a:r>
            <a:r>
              <a:rPr lang="pt-BR" sz="5600" b="1" dirty="0"/>
              <a:t>Core</a:t>
            </a:r>
            <a:r>
              <a:rPr lang="pt-BR" sz="5600" dirty="0"/>
              <a:t> se protege assumindo o modo "local" instantaneamente.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5600" b="1" dirty="0"/>
              <a:t>Balanceamento de Carga (Round-Robin):</a:t>
            </a:r>
            <a:r>
              <a:rPr lang="pt-BR" sz="5600" dirty="0"/>
              <a:t> Se houver mais de um </a:t>
            </a:r>
            <a:r>
              <a:rPr lang="pt-BR" sz="5600" b="1" dirty="0" err="1"/>
              <a:t>provider</a:t>
            </a:r>
            <a:r>
              <a:rPr lang="pt-BR" sz="5600" dirty="0"/>
              <a:t> na lista enviada pelo </a:t>
            </a:r>
            <a:r>
              <a:rPr lang="pt-BR" sz="5600" b="1" dirty="0"/>
              <a:t>Execute</a:t>
            </a:r>
            <a:r>
              <a:rPr lang="pt-BR" sz="5600" dirty="0"/>
              <a:t>, ele divide a carga usando a lógica matemática </a:t>
            </a:r>
            <a:r>
              <a:rPr lang="pt-BR" sz="5600" dirty="0" err="1"/>
              <a:t>providers</a:t>
            </a:r>
            <a:r>
              <a:rPr lang="pt-BR" sz="5600" dirty="0"/>
              <a:t>[</a:t>
            </a:r>
            <a:r>
              <a:rPr lang="pt-BR" sz="5600" dirty="0" err="1"/>
              <a:t>providerIndex%len</a:t>
            </a:r>
            <a:r>
              <a:rPr lang="pt-BR" sz="5600" dirty="0"/>
              <a:t>(</a:t>
            </a:r>
            <a:r>
              <a:rPr lang="pt-BR" sz="5600" dirty="0" err="1"/>
              <a:t>providers</a:t>
            </a:r>
            <a:r>
              <a:rPr lang="pt-BR" sz="5600" dirty="0"/>
              <a:t>)] e incrementa o </a:t>
            </a:r>
            <a:r>
              <a:rPr lang="pt-BR" sz="5600" dirty="0" err="1"/>
              <a:t>providerIndex</a:t>
            </a:r>
            <a:r>
              <a:rPr lang="pt-BR" sz="5600" dirty="0"/>
              <a:t>++.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5600" b="1" dirty="0"/>
              <a:t>Tolerância a Falhas em Tempo Real:</a:t>
            </a:r>
            <a:r>
              <a:rPr lang="pt-BR" sz="5600" dirty="0"/>
              <a:t> Se o </a:t>
            </a:r>
            <a:r>
              <a:rPr lang="pt-BR" sz="5600" b="1" dirty="0"/>
              <a:t>MAPE-K</a:t>
            </a:r>
            <a:r>
              <a:rPr lang="pt-BR" sz="5600" dirty="0"/>
              <a:t> disser que um </a:t>
            </a:r>
            <a:r>
              <a:rPr lang="pt-BR" sz="5600" b="1" dirty="0" err="1"/>
              <a:t>provider</a:t>
            </a:r>
            <a:r>
              <a:rPr lang="pt-BR" sz="5600" dirty="0"/>
              <a:t> está bom, mas no exato milissegundo da requisição o </a:t>
            </a:r>
            <a:r>
              <a:rPr lang="pt-BR" sz="5600" b="1" dirty="0" err="1"/>
              <a:t>provider</a:t>
            </a:r>
            <a:r>
              <a:rPr lang="pt-BR" sz="5600" dirty="0"/>
              <a:t> cair (Erro 500 ou Timeout na chamada </a:t>
            </a:r>
            <a:r>
              <a:rPr lang="pt-BR" sz="5600" dirty="0" err="1"/>
              <a:t>client.Get</a:t>
            </a:r>
            <a:r>
              <a:rPr lang="pt-BR" sz="5600" dirty="0"/>
              <a:t>), o </a:t>
            </a:r>
            <a:r>
              <a:rPr lang="pt-BR" sz="5600" b="1" dirty="0"/>
              <a:t>Core</a:t>
            </a:r>
            <a:r>
              <a:rPr lang="pt-BR" sz="5600" dirty="0"/>
              <a:t> intercepta o erro e aciona o </a:t>
            </a:r>
            <a:r>
              <a:rPr lang="pt-BR" sz="5600" dirty="0" err="1"/>
              <a:t>fallback</a:t>
            </a:r>
            <a:r>
              <a:rPr lang="pt-BR" sz="5600" dirty="0"/>
              <a:t> local na mesma requisição, retornando {"status":"</a:t>
            </a:r>
            <a:r>
              <a:rPr lang="pt-BR" sz="5600" dirty="0" err="1"/>
              <a:t>fallback_error</a:t>
            </a:r>
            <a:r>
              <a:rPr lang="pt-BR" sz="5600" dirty="0"/>
              <a:t>"} para o cliente.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57ECDA45-D85B-7F4E-EF78-407EC1FE5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6660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581D3-1D37-45B2-3558-3DFD7A686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F5F2C-EED9-6BB7-CA27-26E7B01F1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 err="1"/>
              <a:t>Providers</a:t>
            </a:r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0EBCF806-441B-5A52-1DBF-A64E1B8532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9942" y="1949986"/>
            <a:ext cx="8595750" cy="4296635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 algn="just">
              <a:buNone/>
            </a:pPr>
            <a:r>
              <a:rPr lang="pt-BR" dirty="0"/>
              <a:t>Simular o ambiente externo instável. Eles representam o serviço de terceiros (API de geração de PDF).</a:t>
            </a:r>
          </a:p>
          <a:p>
            <a:pPr marL="0" indent="0" algn="just">
              <a:buNone/>
            </a:pPr>
            <a:r>
              <a:rPr lang="pt-BR" b="1" dirty="0"/>
              <a:t>Como funciona (Passo a Passo):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Possui uma variável interna </a:t>
            </a:r>
            <a:r>
              <a:rPr lang="pt-BR" dirty="0" err="1"/>
              <a:t>enablePDFA</a:t>
            </a:r>
            <a:r>
              <a:rPr lang="pt-BR" dirty="0"/>
              <a:t> controlada por </a:t>
            </a:r>
            <a:r>
              <a:rPr lang="pt-BR" dirty="0" err="1"/>
              <a:t>sync.RWMutex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O </a:t>
            </a:r>
            <a:r>
              <a:rPr lang="pt-BR" dirty="0" err="1"/>
              <a:t>endpoint</a:t>
            </a:r>
            <a:r>
              <a:rPr lang="pt-BR" dirty="0"/>
              <a:t> /</a:t>
            </a:r>
            <a:r>
              <a:rPr lang="pt-BR" dirty="0" err="1"/>
              <a:t>health</a:t>
            </a:r>
            <a:r>
              <a:rPr lang="pt-BR" dirty="0"/>
              <a:t> expõe essa variável para que o </a:t>
            </a:r>
            <a:r>
              <a:rPr lang="pt-BR" b="1" dirty="0"/>
              <a:t>Monitor</a:t>
            </a:r>
            <a:r>
              <a:rPr lang="pt-BR" dirty="0"/>
              <a:t> leia.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b="1" dirty="0" err="1"/>
              <a:t>Endpoint</a:t>
            </a:r>
            <a:r>
              <a:rPr lang="pt-BR" b="1" dirty="0"/>
              <a:t> Dinâmico</a:t>
            </a:r>
            <a:r>
              <a:rPr lang="pt-BR" dirty="0"/>
              <a:t>: A rota /</a:t>
            </a:r>
            <a:r>
              <a:rPr lang="pt-BR" dirty="0" err="1"/>
              <a:t>toggle</a:t>
            </a:r>
            <a:r>
              <a:rPr lang="pt-BR" dirty="0"/>
              <a:t> recebe requisições POST para alterar a variável global </a:t>
            </a:r>
            <a:r>
              <a:rPr lang="pt-BR" dirty="0" err="1"/>
              <a:t>enablePDFA</a:t>
            </a:r>
            <a:r>
              <a:rPr lang="pt-BR" dirty="0"/>
              <a:t> sem precisar reiniciar o contêiner. É aqui que o ambiente "muda", acionando todo o ciclo </a:t>
            </a:r>
            <a:r>
              <a:rPr lang="pt-BR" b="1" dirty="0"/>
              <a:t>MAPE-K</a:t>
            </a:r>
            <a:r>
              <a:rPr lang="pt-BR" dirty="0"/>
              <a:t> que vimos nos slides anteriores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148FD49C-F99D-0DC4-C07E-D5DC9AB5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3512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16137-9701-C962-D7E0-79A311C60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0D7E1-C9F7-5782-15BD-404BDB72A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Conclusão 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AD3E343C-B9D8-655B-7FD4-8ABEE7AFE3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9942" y="1949986"/>
            <a:ext cx="8595750" cy="4296635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marL="0" indent="0" algn="just">
              <a:buNone/>
            </a:pPr>
            <a:r>
              <a:rPr lang="pt-BR" sz="2400" dirty="0"/>
              <a:t>O software atinge seu objetivo de garantir alta disponibilidade não por ser à prova de falhas, mas por ser </a:t>
            </a:r>
            <a:r>
              <a:rPr lang="pt-BR" sz="2400" b="1" dirty="0"/>
              <a:t>adaptável a falhas</a:t>
            </a:r>
            <a:r>
              <a:rPr lang="pt-BR" sz="2400" dirty="0"/>
              <a:t>. Ao separar a inteligência de monitoramento (</a:t>
            </a:r>
            <a:r>
              <a:rPr lang="pt-BR" sz="2400" b="1" dirty="0"/>
              <a:t>Sistema Gerenciador</a:t>
            </a:r>
            <a:r>
              <a:rPr lang="pt-BR" sz="2400" dirty="0"/>
              <a:t>) da execução (</a:t>
            </a:r>
            <a:r>
              <a:rPr lang="pt-BR" sz="2400" b="1" dirty="0"/>
              <a:t>Sistema Gerenciado</a:t>
            </a:r>
            <a:r>
              <a:rPr lang="pt-BR" sz="2400" dirty="0"/>
              <a:t>), a arquitetura garante </a:t>
            </a:r>
            <a:r>
              <a:rPr lang="pt-BR" sz="2400" u="sng" dirty="0"/>
              <a:t>resiliência</a:t>
            </a:r>
            <a:r>
              <a:rPr lang="pt-BR" sz="2400" dirty="0"/>
              <a:t>, </a:t>
            </a:r>
            <a:r>
              <a:rPr lang="pt-BR" sz="2400" u="sng" dirty="0"/>
              <a:t>escalabilidade</a:t>
            </a:r>
            <a:r>
              <a:rPr lang="pt-BR" sz="2400" dirty="0"/>
              <a:t> (fácil adição de novos provedores) e </a:t>
            </a:r>
            <a:r>
              <a:rPr lang="pt-BR" sz="2400" u="sng" dirty="0"/>
              <a:t>isolamento</a:t>
            </a:r>
            <a:r>
              <a:rPr lang="pt-BR" sz="2400" dirty="0"/>
              <a:t> de responsabilidades.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D19E267-4830-8ABC-02E0-B7C81C0AA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7468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Obrigado!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2760" y="4664392"/>
            <a:ext cx="5794248" cy="2346960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 dirty="0">
                <a:hlinkClick r:id="rId3"/>
              </a:rPr>
              <a:t>flavio.oliveira@dcomp.ufs.br</a:t>
            </a:r>
            <a:endParaRPr lang="pt-BR" dirty="0"/>
          </a:p>
          <a:p>
            <a:r>
              <a:rPr lang="pt-BR" dirty="0">
                <a:hlinkClick r:id="rId3"/>
              </a:rPr>
              <a:t>maasoares@dcomp.ufs.br</a:t>
            </a:r>
            <a:endParaRPr lang="pt-BR" dirty="0"/>
          </a:p>
          <a:p>
            <a:r>
              <a:rPr lang="pt-BR" dirty="0">
                <a:hlinkClick r:id="rId4"/>
              </a:rPr>
              <a:t>erik_richard@outlook.com</a:t>
            </a:r>
            <a:endParaRPr lang="pt-BR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42477_TF16411248_Win32" id="{E0B7C64D-E7E1-4555-8117-61C2A45FE039}" vid="{4C7C9429-2BC7-4AFE-A088-9B9FA8128CA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{C3EF23A1-78D9-4DFB-8FC6-7AC712AFD905}TFb05bf529-a1dc-42d5-b9d6-8a1e9569dd9c594845f8_win32-39438fd2aa18</Template>
  <TotalTime>158</TotalTime>
  <Words>961</Words>
  <Application>Microsoft Office PowerPoint</Application>
  <PresentationFormat>Widescreen</PresentationFormat>
  <Paragraphs>87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Avenir Next LT Pro Light</vt:lpstr>
      <vt:lpstr>Calibri</vt:lpstr>
      <vt:lpstr>Posterama</vt:lpstr>
      <vt:lpstr>Personalizado</vt:lpstr>
      <vt:lpstr>Procc0113   Tópicos avançados em redes de computadores e sistemas distribuídos – T01 – 2026.1</vt:lpstr>
      <vt:lpstr>Sistema Distribuído Autoadaptável para Geração de PDF/A</vt:lpstr>
      <vt:lpstr>Visão Geral da Arquitetura</vt:lpstr>
      <vt:lpstr>Sistema Gerenciador</vt:lpstr>
      <vt:lpstr>M - Monitor</vt:lpstr>
      <vt:lpstr>A - Analyze</vt:lpstr>
      <vt:lpstr>P - Plan &amp; K - Knowledge</vt:lpstr>
      <vt:lpstr>E - Execute</vt:lpstr>
      <vt:lpstr>Sistema Gerenciado</vt:lpstr>
      <vt:lpstr>Core</vt:lpstr>
      <vt:lpstr>Providers</vt:lpstr>
      <vt:lpstr>Conclusão </vt:lpstr>
      <vt:lpstr>Obrigado!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Flavio Santos</dc:creator>
  <cp:lastModifiedBy>Marcos Soares</cp:lastModifiedBy>
  <cp:revision>10</cp:revision>
  <dcterms:created xsi:type="dcterms:W3CDTF">2026-04-07T00:27:17Z</dcterms:created>
  <dcterms:modified xsi:type="dcterms:W3CDTF">2026-06-06T19:19:22Z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