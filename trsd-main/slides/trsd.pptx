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35" r:id="rId5"/>
    <p:sldId id="340" r:id="rId6"/>
    <p:sldId id="336" r:id="rId7"/>
    <p:sldId id="352" r:id="rId8"/>
    <p:sldId id="353" r:id="rId9"/>
    <p:sldId id="354" r:id="rId10"/>
    <p:sldId id="355" r:id="rId11"/>
    <p:sldId id="356" r:id="rId12"/>
    <p:sldId id="357" r:id="rId13"/>
    <p:sldId id="349" r:id="rId14"/>
    <p:sldId id="351" r:id="rId15"/>
    <p:sldId id="348" r:id="rId16"/>
    <p:sldId id="339" r:id="rId17"/>
    <p:sldId id="347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8398" autoAdjust="0"/>
  </p:normalViewPr>
  <p:slideViewPr>
    <p:cSldViewPr snapToGrid="0">
      <p:cViewPr varScale="1">
        <p:scale>
          <a:sx n="81" d="100"/>
          <a:sy n="81" d="100"/>
        </p:scale>
        <p:origin x="114" y="20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608A2FC-94EB-4E78-A22A-4C048CB24776}" type="datetime1">
              <a:rPr lang="pt-BR" smtClean="0"/>
              <a:t>06/04/2026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563E-BCB2-465B-8A3C-AC86CE64F69C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D503E83-D289-449C-983E-79AA9113407F}" type="datetime1">
              <a:rPr lang="pt-BR" smtClean="0"/>
              <a:pPr/>
              <a:t>06/04/2026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8B990660-4B7D-4C11-96DB-B19FFA8CA93C}" type="slidenum">
              <a:rPr lang="pt-BR" noProof="0" smtClean="0"/>
              <a:t>‹#›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86E7-1934-41BE-5C95-0D851FE51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C4D6826-94D3-28A1-6426-1F6D60C30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FEC4848-8DBB-A60C-FB1D-271ECB2BA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3FBDAD0-A76C-CA49-60A5-E67E4CEE2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65445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F785-FA2E-39C9-6679-970352C8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8A2D31F-2F8C-C918-E54B-B3BA5699F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9A3F5BF-E2F1-D832-CB53-AD527053F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D9F118-24B7-5F7F-1614-7C69CA30F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9667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E6F0-81DA-11DB-0187-6566076D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9CF3E0B-C622-1BF6-99D5-3A2FBF59D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B2FDB91-C57F-2252-0F55-EE14D3F03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369E029-2B97-AB42-D6C0-84D3800BF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55192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063F-958C-2230-4215-88E1BB6D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01734D2-BEA4-332D-A10B-DA07E6675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D573AB4-B7A7-340F-50B5-54A6CB0D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2286F244-4909-E80C-E1F4-022B4C5ED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55327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21A6-1B65-1E7E-02C1-6AEAE510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4413CAD-3586-1B63-85F2-121DF0284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44E9CF7-2058-050E-B095-E1DDDC666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A95641D-E11C-9E07-E971-78BD2D9A7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7534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6B65-CFF6-A327-10B7-4EE83673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1443762-2168-994C-7F94-2DFA3C23F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B20C93B-FAD1-F59F-40B9-B3DFF306F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A805B28-5139-F4C1-ADBB-C70EFE2AA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12741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6AAD-4D5D-303C-F9D5-C02929F0F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0028C98-65D0-AF2E-7FB5-582E1F54D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06952D51-D6DE-582B-D4D9-742820D2E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F08BFA7-C25C-DD8D-A97A-3F3EB1964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32682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4367-BC3E-2707-3821-9B03EDDF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0BDA822-EFE3-C458-1B12-A17F318A5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0B85DB0-D201-9CD8-FB17-AC9D27478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4999798-F15F-AB23-B3EB-6E26F195A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0279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000D-0668-8F6F-FE43-069F193B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CD7A235-1C14-23F1-516D-7B2DF8CDF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9826665-37EA-43AC-BA57-3C840D0DD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2A1856B-ADEC-B666-3CD3-0A47105D9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59936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pt-BR" sz="4000" b="1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 Título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pt-BR" sz="2800"/>
            </a:lvl1pPr>
            <a:lvl2pPr marL="457200" indent="0">
              <a:buNone/>
              <a:defRPr lang="pt-BR" sz="2400"/>
            </a:lvl2pPr>
            <a:lvl3pPr marL="914400" indent="0">
              <a:buNone/>
              <a:defRPr lang="pt-BR" sz="20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675" name="Espaço Reservado para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pt-BR" sz="2800"/>
            </a:lvl1pPr>
            <a:lvl2pPr marL="457200" indent="0">
              <a:lnSpc>
                <a:spcPts val="2400"/>
              </a:lnSpc>
              <a:buNone/>
              <a:defRPr lang="pt-BR" sz="2000"/>
            </a:lvl2pPr>
            <a:lvl3pPr marL="914400" indent="0">
              <a:lnSpc>
                <a:spcPts val="2400"/>
              </a:lnSpc>
              <a:buNone/>
              <a:defRPr lang="pt-BR" sz="2000"/>
            </a:lvl3pPr>
            <a:lvl4pPr marL="1371600" indent="0">
              <a:lnSpc>
                <a:spcPts val="2400"/>
              </a:lnSpc>
              <a:buNone/>
              <a:defRPr lang="pt-BR" sz="2000"/>
            </a:lvl4pPr>
            <a:lvl5pPr marL="1828800" indent="0">
              <a:lnSpc>
                <a:spcPts val="2400"/>
              </a:lnSpc>
              <a:buNone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  <a:lvl6pPr marL="1600200">
              <a:defRPr lang="pt-BR"/>
            </a:lvl6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4" rtl="0"/>
            <a:r>
              <a:rPr lang="pt-BR"/>
              <a:t>Quarto nível</a:t>
            </a:r>
          </a:p>
          <a:p>
            <a:pPr lvl="5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 do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en-US"/>
              <a:t>Click icon to add picture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pt-BR"/>
            </a:lvl1pPr>
            <a:lvl2pPr>
              <a:spcBef>
                <a:spcPts val="0"/>
              </a:spcBef>
              <a:spcAft>
                <a:spcPts val="600"/>
              </a:spcAft>
              <a:defRPr lang="pt-BR"/>
            </a:lvl2pPr>
            <a:lvl3pPr>
              <a:spcBef>
                <a:spcPts val="0"/>
              </a:spcBef>
              <a:spcAft>
                <a:spcPts val="600"/>
              </a:spcAft>
              <a:defRPr lang="pt-BR"/>
            </a:lvl3pPr>
            <a:lvl4pPr>
              <a:spcBef>
                <a:spcPts val="0"/>
              </a:spcBef>
              <a:spcAft>
                <a:spcPts val="600"/>
              </a:spcAft>
              <a:defRPr lang="pt-BR" sz="2000"/>
            </a:lvl4pPr>
            <a:lvl5pPr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flavio.oliveira@dcomp.ufs.b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erik_richard@outlook.com" TargetMode="External"/><Relationship Id="rId4" Type="http://schemas.openxmlformats.org/officeDocument/2006/relationships/hyperlink" Target="mailto:marcos_aragao@y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208" y="1136640"/>
            <a:ext cx="5221224" cy="3056343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sz="3200" dirty="0"/>
              <a:t>Procc0113</a:t>
            </a:r>
            <a:r>
              <a:rPr lang="pt-BR" sz="2400" dirty="0"/>
              <a:t> </a:t>
            </a:r>
            <a:br>
              <a:rPr lang="pt-BR" sz="2400" dirty="0"/>
            </a:br>
            <a:br>
              <a:rPr lang="pt-BR" sz="2400" dirty="0"/>
            </a:br>
            <a:r>
              <a:rPr lang="pt-BR" sz="2400" b="0" dirty="0"/>
              <a:t>Tópicos avançados em redes de computadores e sistemas distribuídos – T01 – 2026.1</a:t>
            </a:r>
          </a:p>
        </p:txBody>
      </p:sp>
      <p:pic>
        <p:nvPicPr>
          <p:cNvPr id="1026" name="Picture 2" descr="Universidade Federal de Sergipe – Wikipédia, a enciclopédia livre">
            <a:extLst>
              <a:ext uri="{FF2B5EF4-FFF2-40B4-BE49-F238E27FC236}">
                <a16:creationId xmlns:a16="http://schemas.microsoft.com/office/drawing/2014/main" id="{DBD2C91E-5210-CAD2-92C8-D5B13B6E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208" y="795731"/>
            <a:ext cx="828119" cy="68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tal UFS - Logomarcas">
            <a:extLst>
              <a:ext uri="{FF2B5EF4-FFF2-40B4-BE49-F238E27FC236}">
                <a16:creationId xmlns:a16="http://schemas.microsoft.com/office/drawing/2014/main" id="{9DBA8E48-B2E3-12C2-14D6-8DF2C1EFB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86" y="610585"/>
            <a:ext cx="3607231" cy="105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85F09D-3A16-5174-63B4-9FEA46052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876" y="795731"/>
            <a:ext cx="828120" cy="839261"/>
          </a:xfrm>
          <a:prstGeom prst="rect">
            <a:avLst/>
          </a:prstGeom>
        </p:spPr>
      </p:pic>
      <p:sp>
        <p:nvSpPr>
          <p:cNvPr id="5" name="Título 2">
            <a:extLst>
              <a:ext uri="{FF2B5EF4-FFF2-40B4-BE49-F238E27FC236}">
                <a16:creationId xmlns:a16="http://schemas.microsoft.com/office/drawing/2014/main" id="{9A6E669B-9FD2-13AB-1265-7E05D18ECB09}"/>
              </a:ext>
            </a:extLst>
          </p:cNvPr>
          <p:cNvSpPr txBox="1">
            <a:spLocks/>
          </p:cNvSpPr>
          <p:nvPr/>
        </p:nvSpPr>
        <p:spPr>
          <a:xfrm>
            <a:off x="6556208" y="4719038"/>
            <a:ext cx="5221224" cy="16095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/>
              <a:t>Erik richard barbosa dos santos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Flavio emanuel de oliveira santos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Marcos andré de aragão soares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Regras de negócio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 que o software faz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Regras de negócio – requisitos funcionais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488180"/>
            <a:ext cx="9212837" cy="436635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1800" b="1" dirty="0"/>
              <a:t>RF01 – Disponibilizar geração de PDF/A via HTTP</a:t>
            </a:r>
            <a:br>
              <a:rPr lang="pt-BR" sz="1800" dirty="0"/>
            </a:br>
            <a:r>
              <a:rPr lang="pt-BR" sz="1800" dirty="0"/>
              <a:t>O sistema deve expor um endpoint (/pdfa) para que clientes solicitem a geração de documentos no formato PDF/A.</a:t>
            </a:r>
          </a:p>
          <a:p>
            <a:r>
              <a:rPr lang="pt-BR" sz="1800" b="1" dirty="0"/>
              <a:t>RF02 – Utilizar serviço externo para geração</a:t>
            </a:r>
            <a:br>
              <a:rPr lang="pt-BR" sz="1800" dirty="0"/>
            </a:br>
            <a:r>
              <a:rPr lang="pt-BR" sz="1800" dirty="0"/>
              <a:t>O sistema deve gerar documentos PDF/A por meio de um provider externo quando este estiver disponível. </a:t>
            </a:r>
          </a:p>
          <a:p>
            <a:r>
              <a:rPr lang="pt-BR" sz="1800" b="1" dirty="0"/>
              <a:t>RF03 (RA) – Realizar fallback automático</a:t>
            </a:r>
            <a:br>
              <a:rPr lang="pt-BR" sz="1800" dirty="0"/>
            </a:br>
            <a:r>
              <a:rPr lang="pt-BR" sz="1800" dirty="0"/>
              <a:t>O sistema deve gerar documentos localmente quando o provider estiver indisponível ou retornar erro.</a:t>
            </a:r>
          </a:p>
          <a:p>
            <a:r>
              <a:rPr lang="pt-BR" sz="1800" b="1" dirty="0"/>
              <a:t>RF04 (RA) – Monitorar e adaptar comportamento dinamicamente</a:t>
            </a:r>
            <a:br>
              <a:rPr lang="pt-BR" sz="1800" dirty="0"/>
            </a:br>
            <a:r>
              <a:rPr lang="pt-BR" sz="1800" dirty="0"/>
              <a:t>O sistema deve monitorar continuamente a disponibilidade do provider e alternar automaticamente entre o uso do serviço externo e o modo fallback.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F01B-D2D6-5829-C247-4E9D76C0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58223-4642-AFA5-5E4B-9F899801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106599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Regras de negócio – requisitos não funcionais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0B47390-D6DB-61DF-D8E7-05B17CD60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528115"/>
            <a:ext cx="8324089" cy="4433297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r>
              <a:rPr lang="pt-BR" sz="1800" b="1" dirty="0"/>
              <a:t>RNF01 – Disponibilidade</a:t>
            </a:r>
            <a:br>
              <a:rPr lang="pt-BR" sz="1800" dirty="0"/>
            </a:br>
            <a:r>
              <a:rPr lang="pt-BR" sz="1800" dirty="0"/>
              <a:t>O sistema deve garantir alta disponibilidade, respondendo às requisições mesmo em caso de falha do provider.</a:t>
            </a:r>
          </a:p>
          <a:p>
            <a:r>
              <a:rPr lang="pt-BR" sz="1800" b="1" dirty="0"/>
              <a:t>RNF02 – Desempenho</a:t>
            </a:r>
            <a:br>
              <a:rPr lang="pt-BR" sz="1800" dirty="0"/>
            </a:br>
            <a:r>
              <a:rPr lang="pt-BR" sz="1800" dirty="0"/>
              <a:t>O sistema deve atender às requisições em tempo adequado (ex.: até 2 segundos em condições normais).</a:t>
            </a:r>
          </a:p>
          <a:p>
            <a:r>
              <a:rPr lang="pt-BR" sz="1800" b="1" dirty="0"/>
              <a:t>RNF03 – Concorrência e consistência</a:t>
            </a:r>
            <a:br>
              <a:rPr lang="pt-BR" sz="1800" dirty="0"/>
            </a:br>
            <a:r>
              <a:rPr lang="pt-BR" sz="1800" dirty="0"/>
              <a:t>O sistema deve suportar múltiplas requisições simultâneas, garantindo acesso seguro ao estado compartilhado.</a:t>
            </a:r>
          </a:p>
          <a:p>
            <a:r>
              <a:rPr lang="pt-BR" sz="1800" b="1" dirty="0"/>
              <a:t>RNF04 – Observabilidade</a:t>
            </a:r>
            <a:br>
              <a:rPr lang="pt-BR" sz="1800" dirty="0"/>
            </a:br>
            <a:r>
              <a:rPr lang="pt-BR" sz="1800" dirty="0"/>
              <a:t>O sistema deve registrar logs de eventos relevantes, como falhas no provider e ativação/desativação do modo fallback.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218E543D-DB1E-90D8-50D6-CA1B08A4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11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DDB4-EC18-5C69-077E-A06C4312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480D3-B98D-8445-9654-4168D24F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Questões de adaptação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D8632C-6CC6-88FE-02B5-FCE2391859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básicas de adaptação</a:t>
            </a:r>
          </a:p>
        </p:txBody>
      </p:sp>
    </p:spTree>
    <p:extLst>
      <p:ext uri="{BB962C8B-B14F-4D97-AF65-F5344CB8AC3E}">
        <p14:creationId xmlns:p14="http://schemas.microsoft.com/office/powerpoint/2010/main" val="2074280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DDD5-7E73-08AE-E41F-56CAEDCF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E0CC1-FD8B-8752-9A05-B75ED100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36C4A13-6B5B-394F-970F-B88FC03F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9942" y="1965763"/>
            <a:ext cx="8324089" cy="3493008"/>
          </a:xfrm>
        </p:spPr>
        <p:txBody>
          <a:bodyPr rtlCol="0"/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1. Por que o software se adapta?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software se adapta para </a:t>
            </a:r>
            <a:r>
              <a:rPr lang="pt-BR" b="1" dirty="0"/>
              <a:t>garantir disponibilidade e continuidade do serviço</a:t>
            </a:r>
            <a:r>
              <a:rPr lang="pt-BR" dirty="0"/>
              <a:t> de geração de PDF/A, mesmo quando o provider externo está indisponível ou falha.</a:t>
            </a:r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A adaptação evita interrupções e melhora a </a:t>
            </a:r>
            <a:r>
              <a:rPr lang="pt-BR" b="1" dirty="0"/>
              <a:t>resiliência</a:t>
            </a:r>
            <a:r>
              <a:rPr lang="pt-BR" dirty="0"/>
              <a:t> do sistema.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D493E0B-2F07-0EE6-5C14-E9B6DB10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223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7CEE-6758-4089-6A17-60249B13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1EF54-F61E-C4EE-44F7-1389460A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C9ECAFA-3C57-F037-1C60-DD2CC437F8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259" y="1775756"/>
            <a:ext cx="8324089" cy="3924399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2. Quando o software se adapta?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software se adapta </a:t>
            </a:r>
            <a:r>
              <a:rPr lang="pt-BR" b="1" dirty="0"/>
              <a:t>quando detecta mudanças na disponibilidade do provider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Isso ocorre em dois cenários:</a:t>
            </a:r>
          </a:p>
          <a:p>
            <a:r>
              <a:rPr lang="pt-BR" dirty="0"/>
              <a:t>Quando o provider fica indisponível (timeout, erro ou HTTP 503) </a:t>
            </a:r>
          </a:p>
          <a:p>
            <a:r>
              <a:rPr lang="pt-BR" dirty="0"/>
              <a:t>Quando o provider volta a ficar disponível </a:t>
            </a:r>
          </a:p>
          <a:p>
            <a:pPr marL="0" indent="0">
              <a:buNone/>
            </a:pPr>
            <a:r>
              <a:rPr lang="pt-BR" dirty="0"/>
              <a:t>Essa detecção é feita continuamente pelo processo de monitoramento periódico – mape()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865563A7-D2E3-0AD5-8938-24AF3E09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6455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512F-4E7B-396D-B712-25A2F2732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1A98-2FE2-B300-7967-5C60E92C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532155-FF0F-C7D4-60C4-48E9CBF2D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8230" y="1787632"/>
            <a:ext cx="8324089" cy="3493008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3. O que o software adapta?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software adapta </a:t>
            </a:r>
            <a:r>
              <a:rPr lang="pt-BR" b="1" dirty="0"/>
              <a:t>o comportamento de execução da geração de PDF/A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Especificamente, ele alterna entre:</a:t>
            </a:r>
          </a:p>
          <a:p>
            <a:r>
              <a:rPr lang="pt-BR" dirty="0"/>
              <a:t>Uso do </a:t>
            </a:r>
            <a:r>
              <a:rPr lang="pt-BR" b="1" dirty="0"/>
              <a:t>serviço externo (provider)</a:t>
            </a:r>
            <a:r>
              <a:rPr lang="pt-BR" dirty="0"/>
              <a:t> </a:t>
            </a:r>
          </a:p>
          <a:p>
            <a:r>
              <a:rPr lang="pt-BR" dirty="0"/>
              <a:t>Uso de uma </a:t>
            </a:r>
            <a:r>
              <a:rPr lang="pt-BR" b="1" dirty="0"/>
              <a:t>implementação local (fallback)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Ou seja, ele adapta </a:t>
            </a:r>
            <a:r>
              <a:rPr lang="pt-BR" b="1" dirty="0"/>
              <a:t>a estratégia de execução da funcionalidade principal</a:t>
            </a:r>
            <a:r>
              <a:rPr lang="pt-BR" dirty="0"/>
              <a:t>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4786370-E9F0-5C1D-B21F-B30FAA40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606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5C02-3AAD-783F-09B1-AF631CC7A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AF187-5045-DCA8-104D-B91A4A3A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Questões de adaptação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A4341DF-F955-22D7-B875-A04E2D5AC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4939" y="1845461"/>
            <a:ext cx="8324089" cy="395473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>
              <a:buNone/>
            </a:pPr>
            <a:r>
              <a:rPr lang="pt-BR" dirty="0"/>
              <a:t>4. Como o software se adapta?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 software se adapta por meio de </a:t>
            </a:r>
            <a:r>
              <a:rPr lang="pt-BR" b="1" dirty="0"/>
              <a:t>alteração de comportamento em função de estados internos em tempo de execução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Um estado compartilhado (fallbackMode) é mantido na base de conhecimento (Knowledge), que é atualizado pelo monitoramento. O seu valor define qual estratégia será usada na execução.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27F529A-05C6-B32D-BB58-C24C1CAA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0979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0C21-BC17-9115-B4EC-227B5E4E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D3657-D0AC-C109-A238-A9D0422D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4615544" cy="3316893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Estruturação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157B6C-63C7-AFD3-13D0-FD166D415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Componentes do Sistema Adaptativo</a:t>
            </a:r>
          </a:p>
        </p:txBody>
      </p:sp>
    </p:spTree>
    <p:extLst>
      <p:ext uri="{BB962C8B-B14F-4D97-AF65-F5344CB8AC3E}">
        <p14:creationId xmlns:p14="http://schemas.microsoft.com/office/powerpoint/2010/main" val="4141984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76E5-B016-5EE6-93E4-7943CFD6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2EEE8-7538-02BB-64E1-D5AA9DE0C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Estruturação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C28F1ED-5772-9B55-3A78-031ED7AE6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Sistema Gerenciador — Observa quais recursos o processo provider oferece e decide como responder à requisição do cliente</a:t>
            </a:r>
          </a:p>
          <a:p>
            <a:r>
              <a:rPr lang="pt-BR" dirty="0"/>
              <a:t>Sistema Gerenciado — Recebe a requisição do cliente, processa e responde</a:t>
            </a:r>
          </a:p>
          <a:p>
            <a:r>
              <a:rPr lang="pt-BR" dirty="0"/>
              <a:t>Ambiente — Existência de processo provider em memória principal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EC9E7CA0-8F69-BA2F-776C-9B129708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440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A9B35-1496-2194-5256-765D0C47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387B0-7463-6789-0B6C-2DA2D04F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1960"/>
            <a:ext cx="5221184" cy="3316893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lnSpc>
                <a:spcPct val="100000"/>
              </a:lnSpc>
            </a:pPr>
            <a:r>
              <a:rPr lang="pt-BR" dirty="0"/>
              <a:t>Tabela de autoadaptação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06B201-3744-8763-35AE-F268A5BEB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Dimensões de adaptação e respostas</a:t>
            </a:r>
          </a:p>
        </p:txBody>
      </p:sp>
    </p:spTree>
    <p:extLst>
      <p:ext uri="{BB962C8B-B14F-4D97-AF65-F5344CB8AC3E}">
        <p14:creationId xmlns:p14="http://schemas.microsoft.com/office/powerpoint/2010/main" val="1295809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E0D3623-2F2C-5AF6-BF1F-939D966A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-417004"/>
            <a:ext cx="898148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Tabela de autoadaptação</a:t>
            </a:r>
          </a:p>
        </p:txBody>
      </p:sp>
      <p:graphicFrame>
        <p:nvGraphicFramePr>
          <p:cNvPr id="10" name="Espaço Reservado para Tabela 2">
            <a:extLst>
              <a:ext uri="{FF2B5EF4-FFF2-40B4-BE49-F238E27FC236}">
                <a16:creationId xmlns:a16="http://schemas.microsoft.com/office/drawing/2014/main" id="{EAC104CE-183D-F298-7D08-92793A1FB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4019764"/>
              </p:ext>
            </p:extLst>
          </p:nvPr>
        </p:nvGraphicFramePr>
        <p:xfrm>
          <a:off x="911352" y="1311116"/>
          <a:ext cx="8690324" cy="478182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8331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5607013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Dimensão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Tipo de adaptação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Composicional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Por que adaptar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Mudança no ambiente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Quem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Autônomo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23407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Quando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Reativa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909619"/>
                  </a:ext>
                </a:extLst>
              </a:tr>
              <a:tr h="52340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O que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Comportamento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594565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Onde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rtl="0"/>
                      <a:r>
                        <a:rPr lang="pt-BR" dirty="0"/>
                        <a:t>Aplicação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  <a:tr h="523407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Como adapta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Alterando comportamento em tempo de execução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038243"/>
                  </a:ext>
                </a:extLst>
              </a:tr>
              <a:tr h="523407"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Quanto custa adaptar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dirty="0"/>
                        <a:t>Recursos Computacionais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206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Obrigado!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2760" y="4664392"/>
            <a:ext cx="5794248" cy="2346960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>
                <a:hlinkClick r:id="rId3"/>
              </a:rPr>
              <a:t>flavio.oliveira@dcomp.ufs.br</a:t>
            </a:r>
            <a:endParaRPr lang="pt-BR" dirty="0"/>
          </a:p>
          <a:p>
            <a:r>
              <a:rPr lang="pt-BR" dirty="0">
                <a:hlinkClick r:id="rId4"/>
              </a:rPr>
              <a:t>marcos_aragao@ymail.com</a:t>
            </a:r>
            <a:endParaRPr lang="pt-BR" dirty="0"/>
          </a:p>
          <a:p>
            <a:r>
              <a:rPr lang="pt-BR" dirty="0">
                <a:hlinkClick r:id="rId5"/>
              </a:rPr>
              <a:t>erik_richard@outlook.com</a:t>
            </a:r>
            <a:endParaRPr lang="pt-BR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77_TF16411248_Win32" id="{E0B7C64D-E7E1-4555-8117-61C2A45FE039}" vid="{4C7C9429-2BC7-4AFE-A088-9B9FA8128C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{C3EF23A1-78D9-4DFB-8FC6-7AC712AFD905}TFb05bf529-a1dc-42d5-b9d6-8a1e9569dd9c594845f8_win32-39438fd2aa18</Template>
  <TotalTime>62</TotalTime>
  <Words>646</Words>
  <Application>Microsoft Office PowerPoint</Application>
  <PresentationFormat>Widescreen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Avenir Next LT Pro Light</vt:lpstr>
      <vt:lpstr>Calibri</vt:lpstr>
      <vt:lpstr>Posterama</vt:lpstr>
      <vt:lpstr>Personalizado</vt:lpstr>
      <vt:lpstr>Procc0113   Tópicos avançados em redes de computadores e sistemas distribuídos – T01 – 2026.1</vt:lpstr>
      <vt:lpstr>Regras de negócio</vt:lpstr>
      <vt:lpstr>Regras de negócio – requisitos funcionais</vt:lpstr>
      <vt:lpstr>Regras de negócio – requisitos não funcionais</vt:lpstr>
      <vt:lpstr>Questões de adaptação</vt:lpstr>
      <vt:lpstr>Questões de adaptação</vt:lpstr>
      <vt:lpstr>Questões de adaptação</vt:lpstr>
      <vt:lpstr>Questões de adaptação</vt:lpstr>
      <vt:lpstr>Questões de adaptação</vt:lpstr>
      <vt:lpstr>Estruturação</vt:lpstr>
      <vt:lpstr>Estruturação</vt:lpstr>
      <vt:lpstr>Tabela de autoadaptação</vt:lpstr>
      <vt:lpstr>Tabela de autoadaptação</vt:lpstr>
      <vt:lpstr>Obrigado!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Santos</dc:creator>
  <cp:lastModifiedBy>Flavio Santos</cp:lastModifiedBy>
  <cp:revision>4</cp:revision>
  <dcterms:created xsi:type="dcterms:W3CDTF">2026-04-07T00:27:17Z</dcterms:created>
  <dcterms:modified xsi:type="dcterms:W3CDTF">2026-04-07T01:29:59Z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